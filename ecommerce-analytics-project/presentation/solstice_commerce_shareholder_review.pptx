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Share of Customers Placing an Order, by Month Since Signup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eligible customers active</c:v>
                </c:pt>
              </c:strCache>
            </c:strRef>
          </c:tx>
          <c:spPr>
            <a:solidFill>
              <a:srgbClr val="D98E04"/>
            </a:solidFill>
            <a:ln w="38100" cap="flat">
              <a:solidFill>
                <a:srgbClr val="D98E0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E04"/>
              </a:solidFill>
              <a:ln w="9525" cap="flat">
                <a:solidFill>
                  <a:srgbClr val="D98E0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9.8</c:v>
                </c:pt>
                <c:pt idx="1">
                  <c:v>12.3</c:v>
                </c:pt>
                <c:pt idx="2">
                  <c:v>12.2</c:v>
                </c:pt>
                <c:pt idx="3">
                  <c:v>13.6</c:v>
                </c:pt>
                <c:pt idx="4">
                  <c:v>14.6</c:v>
                </c:pt>
                <c:pt idx="5">
                  <c:v>13.9</c:v>
                </c:pt>
                <c:pt idx="6">
                  <c:v>12.1</c:v>
                </c:pt>
                <c:pt idx="7">
                  <c:v>16.3</c:v>
                </c:pt>
                <c:pt idx="8">
                  <c:v>17.7</c:v>
                </c:pt>
                <c:pt idx="9">
                  <c:v>17.8</c:v>
                </c:pt>
                <c:pt idx="10">
                  <c:v>18.7</c:v>
                </c:pt>
                <c:pt idx="11">
                  <c:v>20</c:v>
                </c:pt>
                <c:pt idx="12">
                  <c:v>16.7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8C"/>
                    </a:solidFill>
                    <a:latin typeface="Arial"/>
                  </a:rPr>
                  <a:t>% Active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Monthly Net Revenue (Nov / Dec highlighted)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CADCFC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cat>
            <c:multiLvlStrRef>
              <c:f>Sheet1!$A$2:$A$25</c:f>
              <c:multiLvlStrCache>
                <c:ptCount val="24"/>
                <c:lvl>
                  <c:pt idx="0">
                    <c:v>Jan24</c:v>
                  </c:pt>
                  <c:pt idx="1">
                    <c:v>Feb24</c:v>
                  </c:pt>
                  <c:pt idx="2">
                    <c:v>Mar24</c:v>
                  </c:pt>
                  <c:pt idx="3">
                    <c:v>Apr24</c:v>
                  </c:pt>
                  <c:pt idx="4">
                    <c:v>May24</c:v>
                  </c:pt>
                  <c:pt idx="5">
                    <c:v>Jun24</c:v>
                  </c:pt>
                  <c:pt idx="6">
                    <c:v>Jul24</c:v>
                  </c:pt>
                  <c:pt idx="7">
                    <c:v>Aug24</c:v>
                  </c:pt>
                  <c:pt idx="8">
                    <c:v>Sep24</c:v>
                  </c:pt>
                  <c:pt idx="9">
                    <c:v>Oct24</c:v>
                  </c:pt>
                  <c:pt idx="10">
                    <c:v>Nov24</c:v>
                  </c:pt>
                  <c:pt idx="11">
                    <c:v>Dec24</c:v>
                  </c:pt>
                  <c:pt idx="12">
                    <c:v>Jan25</c:v>
                  </c:pt>
                  <c:pt idx="13">
                    <c:v>Feb25</c:v>
                  </c:pt>
                  <c:pt idx="14">
                    <c:v>Mar25</c:v>
                  </c:pt>
                  <c:pt idx="15">
                    <c:v>Apr25</c:v>
                  </c:pt>
                  <c:pt idx="16">
                    <c:v>May25</c:v>
                  </c:pt>
                  <c:pt idx="17">
                    <c:v>Jun25</c:v>
                  </c:pt>
                  <c:pt idx="18">
                    <c:v>Jul25</c:v>
                  </c:pt>
                  <c:pt idx="19">
                    <c:v>Aug25</c:v>
                  </c:pt>
                  <c:pt idx="20">
                    <c:v>Sep25</c:v>
                  </c:pt>
                  <c:pt idx="21">
                    <c:v>Oct25</c:v>
                  </c:pt>
                  <c:pt idx="22">
                    <c:v>Nov25</c:v>
                  </c:pt>
                  <c:pt idx="23">
                    <c:v>Dec25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10627.25</c:v>
                </c:pt>
                <c:pt idx="1">
                  <c:v>13673.61</c:v>
                </c:pt>
                <c:pt idx="2">
                  <c:v>10718.02</c:v>
                </c:pt>
                <c:pt idx="3">
                  <c:v>22514.98</c:v>
                </c:pt>
                <c:pt idx="4">
                  <c:v>16607.49</c:v>
                </c:pt>
                <c:pt idx="5">
                  <c:v>22072.02</c:v>
                </c:pt>
                <c:pt idx="6">
                  <c:v>18800.91</c:v>
                </c:pt>
                <c:pt idx="7">
                  <c:v>22378.35</c:v>
                </c:pt>
                <c:pt idx="8">
                  <c:v>35799.85</c:v>
                </c:pt>
                <c:pt idx="9">
                  <c:v>37693.96</c:v>
                </c:pt>
                <c:pt idx="10">
                  <c:v>45965.67</c:v>
                </c:pt>
                <c:pt idx="11">
                  <c:v>63164.57</c:v>
                </c:pt>
                <c:pt idx="12">
                  <c:v>40723.97</c:v>
                </c:pt>
                <c:pt idx="13">
                  <c:v>31273.84</c:v>
                </c:pt>
                <c:pt idx="14">
                  <c:v>42499.53</c:v>
                </c:pt>
                <c:pt idx="15">
                  <c:v>52699.12</c:v>
                </c:pt>
                <c:pt idx="16">
                  <c:v>54611.55</c:v>
                </c:pt>
                <c:pt idx="17">
                  <c:v>52981.57</c:v>
                </c:pt>
                <c:pt idx="18">
                  <c:v>48371.62</c:v>
                </c:pt>
                <c:pt idx="19">
                  <c:v>63592.39</c:v>
                </c:pt>
                <c:pt idx="20">
                  <c:v>50202.56</c:v>
                </c:pt>
                <c:pt idx="21">
                  <c:v>56093.99</c:v>
                </c:pt>
                <c:pt idx="22">
                  <c:v>91851.93</c:v>
                </c:pt>
                <c:pt idx="23">
                  <c:v>82490.49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Net Revenue by Product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Electronics</c:v>
                  </c:pt>
                  <c:pt idx="1">
                    <c:v>Home &amp; Kitchen</c:v>
                  </c:pt>
                  <c:pt idx="2">
                    <c:v>Clothing</c:v>
                  </c:pt>
                  <c:pt idx="3">
                    <c:v>Sports &amp; Outdoors</c:v>
                  </c:pt>
                  <c:pt idx="4">
                    <c:v>Office Supplies</c:v>
                  </c:pt>
                  <c:pt idx="5">
                    <c:v>Beauty &amp; Personal Care</c:v>
                  </c:pt>
                  <c:pt idx="6">
                    <c:v>Toys &amp; Games</c:v>
                  </c:pt>
                  <c:pt idx="7">
                    <c:v>Grocery</c:v>
                  </c:pt>
                  <c:pt idx="8">
                    <c:v>Books</c:v>
                  </c:pt>
                  <c:pt idx="9">
                    <c:v>Pet Supplies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460650.45</c:v>
                </c:pt>
                <c:pt idx="1">
                  <c:v>153826.04</c:v>
                </c:pt>
                <c:pt idx="2">
                  <c:v>127166.47</c:v>
                </c:pt>
                <c:pt idx="3">
                  <c:v>75798.64</c:v>
                </c:pt>
                <c:pt idx="4">
                  <c:v>42197.44</c:v>
                </c:pt>
                <c:pt idx="5">
                  <c:v>41000.61</c:v>
                </c:pt>
                <c:pt idx="6">
                  <c:v>27975.7</c:v>
                </c:pt>
                <c:pt idx="7">
                  <c:v>26706.08</c:v>
                </c:pt>
                <c:pt idx="8">
                  <c:v>22682.26</c:v>
                </c:pt>
                <c:pt idx="9">
                  <c:v>9405.54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Cancellation &amp; Return Rate by Shipping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</c:v>
                  </c:pt>
                  <c:pt idx="1">
                    <c:v>Next-Day</c:v>
                  </c:pt>
                  <c:pt idx="2">
                    <c:v>Free Pickup</c:v>
                  </c:pt>
                  <c:pt idx="3">
                    <c:v>Express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7.78</c:v>
                </c:pt>
                <c:pt idx="1">
                  <c:v>8.2</c:v>
                </c:pt>
                <c:pt idx="2">
                  <c:v>8.68</c:v>
                </c:pt>
                <c:pt idx="3">
                  <c:v>8.98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 Rate %</c:v>
                </c:pt>
              </c:strCache>
            </c:strRef>
          </c:tx>
          <c:spPr>
            <a:solidFill>
              <a:srgbClr val="D98E0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</c:v>
                  </c:pt>
                  <c:pt idx="1">
                    <c:v>Next-Day</c:v>
                  </c:pt>
                  <c:pt idx="2">
                    <c:v>Free Pickup</c:v>
                  </c:pt>
                  <c:pt idx="3">
                    <c:v>Express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9.68</c:v>
                </c:pt>
                <c:pt idx="1">
                  <c:v>9.47</c:v>
                </c:pt>
                <c:pt idx="2">
                  <c:v>11.41</c:v>
                </c:pt>
                <c:pt idx="3">
                  <c:v>9.61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Share of Total Revenue by Customer Spend Decile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 Revenue</c:v>
                </c:pt>
              </c:strCache>
            </c:strRef>
          </c:tx>
          <c:spPr>
            <a:solidFill>
              <a:srgbClr val="D98E0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Top 10%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Bottom 10%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34.2</c:v>
                </c:pt>
                <c:pt idx="1">
                  <c:v>19.6</c:v>
                </c:pt>
                <c:pt idx="2">
                  <c:v>13.6</c:v>
                </c:pt>
                <c:pt idx="3">
                  <c:v>10.1</c:v>
                </c:pt>
                <c:pt idx="4">
                  <c:v>7.7</c:v>
                </c:pt>
                <c:pt idx="5">
                  <c:v>5.7</c:v>
                </c:pt>
                <c:pt idx="6">
                  <c:v>4.1</c:v>
                </c:pt>
                <c:pt idx="7">
                  <c:v>2.7</c:v>
                </c:pt>
                <c:pt idx="8">
                  <c:v>1.7</c:v>
                </c:pt>
                <c:pt idx="9">
                  <c:v>0.7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% of Signups That Placed at Least One Order, by Channel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to First Order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Paid Social</c:v>
                  </c:pt>
                  <c:pt idx="1">
                    <c:v>Referral</c:v>
                  </c:pt>
                  <c:pt idx="2">
                    <c:v>Affiliate</c:v>
                  </c:pt>
                  <c:pt idx="3">
                    <c:v>Influencer</c:v>
                  </c:pt>
                  <c:pt idx="4">
                    <c:v>Direct</c:v>
                  </c:pt>
                  <c:pt idx="5">
                    <c:v>Email Campaign</c:v>
                  </c:pt>
                  <c:pt idx="6">
                    <c:v>Organic Search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84.8</c:v>
                </c:pt>
                <c:pt idx="1">
                  <c:v>84.9</c:v>
                </c:pt>
                <c:pt idx="2">
                  <c:v>90.1</c:v>
                </c:pt>
                <c:pt idx="3">
                  <c:v>91.4</c:v>
                </c:pt>
                <c:pt idx="4">
                  <c:v>92.3</c:v>
                </c:pt>
                <c:pt idx="5">
                  <c:v>93.4</c:v>
                </c:pt>
                <c:pt idx="6">
                  <c:v>93.8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b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SOLSTICE COMMERCE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FY2024–FY2025 Business Review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Growth, Seasonal Performance &amp; Portfolio Health — A Data-Driven Shareholder Update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Data &amp; Analytics Team  |  Annual Shareholder Meeting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Questions Shaping Our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8470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Lifecycle &amp; Retention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167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customers still engaged after they sign up?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70662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&amp; Promotions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02666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driving the holiday spike — and at what cost?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935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86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lines create the most durable value?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531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42569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&amp; Payment Experience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74573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operations layer costing us orders?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2852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Concentration &amp; Acquisition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6052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drives our revenue, and are we acquiring the right customers?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SOLSTICE COMMERCE  |  CONFIDENTIAL — FOR SHAREHOLDER USE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Growing Business With Clear Levers Ahead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48256"/>
            <a:ext cx="20848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$987K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FY24–FY25 combined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98064" y="192024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</p:sp>
      <p:sp>
        <p:nvSpPr>
          <p:cNvPr id="8" name="Text 6"/>
          <p:cNvSpPr/>
          <p:nvPr/>
        </p:nvSpPr>
        <p:spPr>
          <a:xfrm>
            <a:off x="2798064" y="2048256"/>
            <a:ext cx="20848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+109%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935224" y="320040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to FY25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47488" y="192024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2048256"/>
            <a:ext cx="20848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184648" y="320040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placed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order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96912" y="192024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2048256"/>
            <a:ext cx="20848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434072" y="320040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4,593 orders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46336" y="192024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EEF3FD"/>
          </a:solidFill>
          <a:ln/>
        </p:spPr>
      </p:sp>
      <p:sp>
        <p:nvSpPr>
          <p:cNvPr id="17" name="Text 15"/>
          <p:cNvSpPr/>
          <p:nvPr/>
        </p:nvSpPr>
        <p:spPr>
          <a:xfrm>
            <a:off x="9546336" y="2048256"/>
            <a:ext cx="20848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683496" y="320040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&amp; return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— a watch item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headline: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more than doubled year-over-year as the customer base matured, but growth is unevenly distributed — the top 10% of customers generate a third of all revenue, and two categories (Electronics, Home &amp; Kitchen) account for over 60% of sales. The next five slides unpack where that concentration helps us, where it exposes risk, and what to do about each.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SOLSTICE COMMERCE  |  CONFIDENTIAL — FOR SHAREHOLDER USE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CUSTOMER LIFECYCLE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Holds Steady — It Doesn't Spike, But It Doesn't Collapse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71232" y="1965960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71232" y="2350008"/>
            <a:ext cx="37856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rate holds in a 10–20% band from signup month 0 through month 12 — no steep early drop-off.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gentle upward drift reflects overall order-volume growth in 2025, not necessarily longer-tenured customers buying more often.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given time, roughly 4 in 5 customers in a cohort are not transacting — the growth opportunity is frequency, not acquisition.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71232" y="5166360"/>
            <a:ext cx="3785616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708392" y="5193792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lifecycle/replenishment program targeting the ~80% of customers dormant in a given month, especially between months 0–6 when engagement is at its lowest.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SOLSTICE COMMERCE  |  CONFIDENTIAL — FOR SHAREHOLDER USE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SEASONAL DEMAND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Holidays Carry the Year — At a Real Discount Cost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3152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150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EEF3F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584301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6217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annual 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in Nov + Dec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17520" y="57150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EEF3FD"/>
          </a:solidFill>
          <a:ln/>
        </p:spPr>
      </p:sp>
      <p:sp>
        <p:nvSpPr>
          <p:cNvPr id="9" name="Text 6"/>
          <p:cNvSpPr/>
          <p:nvPr/>
        </p:nvSpPr>
        <p:spPr>
          <a:xfrm>
            <a:off x="3017520" y="584301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3.6% → 10.3%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154680" y="6217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 jumps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holiday window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57150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EEF3FD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0" y="584301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10.3% → 8.8%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623560" y="6217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is flat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worse — in holidays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35240" y="1783080"/>
            <a:ext cx="3977640" cy="3794760"/>
          </a:xfrm>
          <a:prstGeom prst="roundRect">
            <a:avLst>
              <a:gd name="adj" fmla="val 192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91272" y="1965960"/>
            <a:ext cx="3465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91272" y="2350008"/>
            <a:ext cx="34655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Nov–Dec drives nearly 3x an average month's revenue, on discount rates that nearly triple (3.6% to 10.3%).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deeper discounting, holiday return rates don't rise — quality perception isn't suffering.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holiday orders carry a discount, vs. 21% the rest of the year — heavy reliance on promotions to hit peak volume.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891272" y="4800600"/>
            <a:ext cx="3465576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8028432" y="4828032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smaller holiday discounts (e.g. 5–7%) on a subset of traffic — flat returns suggest we have room to protect margin without losing volume.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SOLSTICE COMMERCE  |  CONFIDENTIAL — FOR SHAREHOLDER USE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CATEGORY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Leads on Value — Two Categories Lag on Fit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783080"/>
            <a:ext cx="443484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34072" y="1965960"/>
            <a:ext cx="3922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34072" y="2350008"/>
            <a:ext cx="39227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16% of orders but 47% of revenue — by far our highest value-per-order category.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 and Clothing round out the top three, together another ~28% of revenue.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Toys &amp; Games (16.0% return rate) and Pet Supplies (14.1%) run well above the ~9.8% company average — likely sizing, fit, or description mismatches rather than shipping issues.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34072" y="5166360"/>
            <a:ext cx="3922776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571232" y="5193792"/>
            <a:ext cx="3648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grow Electronics placement/marketing spend; open a targeted quality review on product listings for Toys &amp; Games and Pet Supplies before their next seasonal push.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SOLSTICE COMMERCE  |  CONFIDENTIAL — FOR SHAREHOLDER USE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FULFILLMENT &amp; PAYMENT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Isn't the Bottleneck — Every Channel Performs Alike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71232" y="1965960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71232" y="2350008"/>
            <a:ext cx="37856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rates span a tight 7.8%–9.0% band across all four shipping methods — no outlier method is driving cancellations.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rates are similarly flat (9.5%–11.4%); Free Pickup runs slightly higher but on a much smaller volume base.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tells the same story: cancellation rates range just 6.8%–9.1% across all six methods offered.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71232" y="5166360"/>
            <a:ext cx="3785616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708392" y="5193792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 checkout/fulfillment as a root-cause hypothesis for cancellations and returns — redirect investigation toward product content and expectation-setting (see Category Performance).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SOLSTICE COMMERCE  |  CONFIDENTIAL — FOR SHAREHOLDER USE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CUSTOMER CONCENTRATION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Third of Revenue Sits With One in Ten Customers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71232" y="1965960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71232" y="2350008"/>
            <a:ext cx="37856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10% of customers by spend generate 34% of total revenue; the top 20% generate 54%.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half of customers combined contribute under 15% of revenue.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concentration is an opportunity, not just a risk — a small, identifiable group of high-value customers is disproportionately reachable.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71232" y="5166360"/>
            <a:ext cx="3785616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708392" y="5193792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formal VIP/high-value program (early access, dedicated support) for the top decile, and build a lookalike profile from it to guide acquisition targeting.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SOLSTICE COMMERCE  |  CONFIDENTIAL — FOR SHAREHOLDER USE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ACQUISITION EFFICIENCY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Signups Are Created Equal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71232" y="1965960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71232" y="2350008"/>
            <a:ext cx="37856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and Email Campaign convert signups to first orders at 93–94%.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and Referral trail 8–9 points behind at ~85%, despite Paid Social being our 2nd-largest source of new signups (211 customers).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represents roughly 20 additional lost first-time buyers from Paid Social alone versus the top-performing channels.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71232" y="5166360"/>
            <a:ext cx="3785616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708392" y="5193792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structured first-90-day nurture sequence for Paid Social and Referral signups, and re-evaluate budget allocation toward Organic Search and Email given their materially higher conversion.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SOLSTICE COMMERCE  |  CONFIDENTIAL — FOR SHAREHOLDER USE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for the Next Two Quarters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786384"/>
          </a:xfrm>
          <a:prstGeom prst="roundRect">
            <a:avLst>
              <a:gd name="adj" fmla="val 8140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019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Marketing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37760" y="1901952"/>
            <a:ext cx="6519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replenishment/win-back flows — monthly engagement holds at just 10–20% of any cohort.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1672" cy="786384"/>
          </a:xfrm>
          <a:prstGeom prst="roundRect">
            <a:avLst>
              <a:gd name="adj" fmla="val 8140"/>
            </a:avLst>
          </a:prstGeom>
          <a:solidFill>
            <a:srgbClr val="EEF3FD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907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8163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Holiday Discounting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37760" y="2816352"/>
            <a:ext cx="6519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shallower Nov/Dec discounts; flat return rates suggest room to protect margin.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91672" cy="786384"/>
          </a:xfrm>
          <a:prstGeom prst="roundRect">
            <a:avLst>
              <a:gd name="adj" fmla="val 8140"/>
            </a:avLst>
          </a:prstGeom>
          <a:solidFill>
            <a:srgbClr val="EEF3F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822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7307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Quality Review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937760" y="3730752"/>
            <a:ext cx="6519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Toys &amp; Games and Pet Supplies listings — return rates run 40–60% above company average.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91672" cy="786384"/>
          </a:xfrm>
          <a:prstGeom prst="roundRect">
            <a:avLst>
              <a:gd name="adj" fmla="val 8140"/>
            </a:avLst>
          </a:prstGeom>
          <a:solidFill>
            <a:srgbClr val="EEF3FD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7365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6451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Acquisition Spend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937760" y="4645152"/>
            <a:ext cx="6519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toward Organic Search/Email and add nurture flows for Paid Social &amp; Referral.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91672" cy="786384"/>
          </a:xfrm>
          <a:prstGeom prst="roundRect">
            <a:avLst>
              <a:gd name="adj" fmla="val 8140"/>
            </a:avLst>
          </a:prstGeom>
          <a:solidFill>
            <a:srgbClr val="EEF3FD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6509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650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5595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VIP Program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937760" y="5559552"/>
            <a:ext cx="6519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retention for the top 10% of customers who already drive a third of all revenue.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SOLSTICE COMMERCE  |  CONFIDENTIAL — FOR SHAREHOLDER USE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Team  |  investor.relations@solsticecommerce.com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Solstice Commerce — Shareholder Business Review</dc:title>
  <dc:subject>PptxGenJS Presentation</dc:subject>
  <dc:creator>Data &amp; Analytics Team</dc:creator>
  <cp:lastModifiedBy>Data &amp; Analytics Team</cp:lastModifiedBy>
  <cp:revision>1</cp:revision>
  <dcterms:created xsi:type="dcterms:W3CDTF">2026-08-02T11:37:12Z</dcterms:created>
  <dcterms:modified xsi:type="dcterms:W3CDTF">2026-08-02T11:37:12Z</dcterms:modified>
</cp:coreProperties>
</file>